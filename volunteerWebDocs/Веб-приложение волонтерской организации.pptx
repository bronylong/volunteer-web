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>
        <p:scale>
          <a:sx n="100" d="100"/>
          <a:sy n="100" d="100"/>
        </p:scale>
        <p:origin x="2238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BA25E-650F-5E58-FF09-859F7BFF3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0B4AD3-CAAA-8134-D66E-2CDB9F872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BF5570-E818-B1EB-BCB8-A76FE9A5C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30CE9A-DE21-0153-644F-F33BEC9D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C73BF1-248C-ADD7-2269-E02F48A1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57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579E72-AF0D-7631-F3BF-19737026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F24528-2B31-D506-79DD-5F12F11D4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4B708E-91C1-5930-1C57-C2A331EF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898049-884E-2947-6CDC-D7963A23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AA9C9B-619C-27BF-904B-0B3FAFE6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38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134EB-D39F-C98F-0605-626B4E80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55E968-DC47-13A1-527F-C0015026F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040CE-2D4D-3C5B-EE98-180E3255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134354-22DF-8910-5BD7-569F76985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630A4D-E292-D6CE-9071-94A896BE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782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F8AB9D-0CE7-BB4F-B924-283556CCC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4E2E15-5190-A8A3-4DDA-36BD6350F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DFA181-3EE6-3530-17EF-9739B8366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9A50E9-089E-F476-3709-A2FC2403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925BFC-BF85-F8E3-C44C-74E40486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10B948-446F-C266-8629-B592FEB6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002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ED008-4E11-1CC2-ADED-F4A0DDB9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7072A0-280E-5485-4C0D-63160CA2E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2D9F33-82CA-A0D8-FF30-1945D3929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35FFD14-1F04-A623-922B-F1FDCE3A8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C283ABF-1BB6-5729-A74C-D25EA4BC4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70739D-514D-8CA1-9E78-6F2B67800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4F53A7-572F-181E-B2D8-848FE420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A9C458D-6A5C-9CB5-FAEF-9115EA29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497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A9C3A-05C5-7DF8-B09E-27FB9FDB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9277BF5-D7F9-C376-4662-302DBCE4D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42D090-5930-4A70-12B6-73D9CDF6F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EE9C64-D9E9-812E-D73E-1F6AA319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17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043C5CA-E2B4-05A8-CCCA-AEE7BC85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BCCFC2B-7784-48A1-988C-EDEFD303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A9146C-8248-5EDA-E3FD-8A0A19CF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20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30144-0C9D-E07C-7339-3BAD50C8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918FE4-744A-739F-0A3B-842013A3E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1E2658-A481-709B-45C4-D57F840B4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0834AD-E0FE-6932-04D0-CFBD3D78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891BB6-6C52-0766-C25A-CA4E4EFB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1A6656-BECC-42D0-005C-7702CB3A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49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770CD-C4C0-1DB4-5F6C-30A08344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45A3D0-7516-C229-813F-229B905925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58EDE6-7230-E448-206A-A414D8B9B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251FFD-D752-2753-0E86-609A3A13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AFDB7A-D46B-B795-4853-A38369AD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ED03E3-AF05-77A8-163B-FBBCBF69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03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BB8A2-C98E-0E4E-79E8-2E63A74A6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5D1E89-2AE8-A3DF-8AA5-A2AE1CE4D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2AE01D-5388-1658-C94E-AE48FEE26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03E0F-4EF4-C56B-4D12-57DB504E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109FFF-6FB8-3479-3A0A-C81B8839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09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254426-4BA2-AF86-4E75-121FB0044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8CD1D5-6B07-F304-8E4F-3E69DDE5E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59615C-DE12-979B-B94F-6A66B5D0E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BC921F-2465-DB08-FCE7-0F2F87D73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3EFB11-5BA1-85CA-EB67-72A2F8D3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01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9725D-4EE3-27A3-F675-70ED42E4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9D83B6-D2C2-252A-74CE-15D936C22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B633E1-FE2B-8E75-F2A8-25DEB3574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F612C-788F-4BC6-906E-C070B6278198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34DC1C-EBCB-5988-9478-965EECF65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312BBE-65B8-1A32-19A4-A4B8FB52B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308E1-263A-4635-8854-1AC7D400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20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95B04-645A-77EE-406A-9E13632949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Веб-приложение волонтерской организации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8988D9-EE26-8773-BF1A-6A5EE99BD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Студент КТбо4-9</a:t>
            </a:r>
          </a:p>
          <a:p>
            <a:r>
              <a:rPr lang="ru-RU" dirty="0"/>
              <a:t>Петров Е. А.</a:t>
            </a:r>
          </a:p>
        </p:txBody>
      </p:sp>
    </p:spTree>
    <p:extLst>
      <p:ext uri="{BB962C8B-B14F-4D97-AF65-F5344CB8AC3E}">
        <p14:creationId xmlns:p14="http://schemas.microsoft.com/office/powerpoint/2010/main" val="371507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6AD4B-D475-985E-302A-B4616725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F4D075-8869-D9CA-DB92-0DF012AEA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35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Основная проблема – сложность координации мероприятий</a:t>
            </a:r>
          </a:p>
          <a:p>
            <a:r>
              <a:rPr lang="ru-RU" dirty="0"/>
              <a:t>Таблицы и социальные сети усложняют работу</a:t>
            </a:r>
          </a:p>
          <a:p>
            <a:r>
              <a:rPr lang="ru-RU" dirty="0"/>
              <a:t>Организаторы вынуждены вручную работать с заявками</a:t>
            </a:r>
          </a:p>
          <a:p>
            <a:r>
              <a:rPr lang="ru-RU" dirty="0"/>
              <a:t>Волонтерам необходим единый источник информации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4837BF-B7A6-4F73-2B7E-78A443BBD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545" y="99833"/>
            <a:ext cx="7432805" cy="1708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94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5BB7F8-40EC-F917-FE90-90CE89072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0906F-58CC-BC0D-C59C-F9AA30811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 – создать удобную платформу для автоматизации деятельности волонтерских организаций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DF3CDD-F30A-9F06-5D92-8F07B288094B}"/>
              </a:ext>
            </a:extLst>
          </p:cNvPr>
          <p:cNvSpPr/>
          <p:nvPr/>
        </p:nvSpPr>
        <p:spPr>
          <a:xfrm>
            <a:off x="685800" y="3028950"/>
            <a:ext cx="2159000" cy="1670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Проведен анализ предметной области и существующих решений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F08376F-159E-9599-A565-23690A72EB72}"/>
              </a:ext>
            </a:extLst>
          </p:cNvPr>
          <p:cNvSpPr/>
          <p:nvPr/>
        </p:nvSpPr>
        <p:spPr>
          <a:xfrm>
            <a:off x="3219450" y="3028950"/>
            <a:ext cx="2159000" cy="1670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Спроектирована архитектура, роли пользователей и структуры данных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705E90-1030-27CD-CF7D-00B78A505CC4}"/>
              </a:ext>
            </a:extLst>
          </p:cNvPr>
          <p:cNvSpPr/>
          <p:nvPr/>
        </p:nvSpPr>
        <p:spPr>
          <a:xfrm>
            <a:off x="5753100" y="3028950"/>
            <a:ext cx="2159000" cy="1670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Разработаны </a:t>
            </a:r>
            <a:r>
              <a:rPr lang="en-US" dirty="0"/>
              <a:t>frontend</a:t>
            </a:r>
            <a:r>
              <a:rPr lang="ru-RU" dirty="0"/>
              <a:t> и </a:t>
            </a:r>
            <a:r>
              <a:rPr lang="en-US" dirty="0"/>
              <a:t>backend </a:t>
            </a:r>
            <a:r>
              <a:rPr lang="ru-RU" dirty="0"/>
              <a:t>части, а также база данных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82DCDC1-8CA5-5760-096F-CA955B659D96}"/>
              </a:ext>
            </a:extLst>
          </p:cNvPr>
          <p:cNvSpPr/>
          <p:nvPr/>
        </p:nvSpPr>
        <p:spPr>
          <a:xfrm>
            <a:off x="8286750" y="3028950"/>
            <a:ext cx="2159000" cy="1670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Проведено тестирование и развертывание в серверной среде</a:t>
            </a:r>
          </a:p>
        </p:txBody>
      </p:sp>
    </p:spTree>
    <p:extLst>
      <p:ext uri="{BB962C8B-B14F-4D97-AF65-F5344CB8AC3E}">
        <p14:creationId xmlns:p14="http://schemas.microsoft.com/office/powerpoint/2010/main" val="94256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389AC-DCDD-B7C0-9BF9-0B9EF974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решений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B9A6989-6627-425A-1419-3730D10A10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616360"/>
              </p:ext>
            </p:extLst>
          </p:nvPr>
        </p:nvGraphicFramePr>
        <p:xfrm>
          <a:off x="544443" y="1690688"/>
          <a:ext cx="7628010" cy="45786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25602">
                  <a:extLst>
                    <a:ext uri="{9D8B030D-6E8A-4147-A177-3AD203B41FA5}">
                      <a16:colId xmlns:a16="http://schemas.microsoft.com/office/drawing/2014/main" val="1355531430"/>
                    </a:ext>
                  </a:extLst>
                </a:gridCol>
                <a:gridCol w="1525602">
                  <a:extLst>
                    <a:ext uri="{9D8B030D-6E8A-4147-A177-3AD203B41FA5}">
                      <a16:colId xmlns:a16="http://schemas.microsoft.com/office/drawing/2014/main" val="480351557"/>
                    </a:ext>
                  </a:extLst>
                </a:gridCol>
                <a:gridCol w="1525602">
                  <a:extLst>
                    <a:ext uri="{9D8B030D-6E8A-4147-A177-3AD203B41FA5}">
                      <a16:colId xmlns:a16="http://schemas.microsoft.com/office/drawing/2014/main" val="3134911992"/>
                    </a:ext>
                  </a:extLst>
                </a:gridCol>
                <a:gridCol w="1525602">
                  <a:extLst>
                    <a:ext uri="{9D8B030D-6E8A-4147-A177-3AD203B41FA5}">
                      <a16:colId xmlns:a16="http://schemas.microsoft.com/office/drawing/2014/main" val="1902857694"/>
                    </a:ext>
                  </a:extLst>
                </a:gridCol>
                <a:gridCol w="1525602">
                  <a:extLst>
                    <a:ext uri="{9D8B030D-6E8A-4147-A177-3AD203B41FA5}">
                      <a16:colId xmlns:a16="http://schemas.microsoft.com/office/drawing/2014/main" val="407194479"/>
                    </a:ext>
                  </a:extLst>
                </a:gridCol>
              </a:tblGrid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/>
                        <a:t>Критерий сравнения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Добро.ру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Volonter.ru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ProCharity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Мосволонтёр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624195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Понятность пользовательского сценария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/>
                        <a:t>-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928289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Наличие каталога мероприятий / задач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121756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Работа с ролями пользователей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-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125895"/>
                  </a:ext>
                </a:extLst>
              </a:tr>
              <a:tr h="992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Образовательный и информационный контур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-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11127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Полезность для проектируемого приложения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/>
                        <a:t>+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1540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307AD9-7BCB-B9BA-5007-68A7196C9449}"/>
              </a:ext>
            </a:extLst>
          </p:cNvPr>
          <p:cNvSpPr txBox="1"/>
          <p:nvPr/>
        </p:nvSpPr>
        <p:spPr>
          <a:xfrm>
            <a:off x="8407400" y="1930400"/>
            <a:ext cx="3619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требуется перегруженная система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Главный акцент – удобство использования и понятный путь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сценарии: просмотр, заявка, управление, профиль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Функции отобраны под реальную работу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84796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5CC1B6-78AC-B448-63E0-D0D1C355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Роли пользователей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74DEA6-C997-F051-7B95-F3CAFE9DF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9EA5641-7B89-CC00-0CCE-0A99DF5A06D5}"/>
              </a:ext>
            </a:extLst>
          </p:cNvPr>
          <p:cNvSpPr/>
          <p:nvPr/>
        </p:nvSpPr>
        <p:spPr>
          <a:xfrm>
            <a:off x="3352800" y="1942306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3765B5CF-B6FB-7980-B8B8-1FCCC1C5C9DC}"/>
              </a:ext>
            </a:extLst>
          </p:cNvPr>
          <p:cNvSpPr/>
          <p:nvPr/>
        </p:nvSpPr>
        <p:spPr>
          <a:xfrm>
            <a:off x="3517392" y="208861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7C00"/>
                </a:solidFill>
              </a:rPr>
              <a:t>Гость</a:t>
            </a:r>
            <a:endParaRPr lang="en-US" sz="2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0DB8626-69AA-5AB1-E7C6-FB5A434CF932}"/>
              </a:ext>
            </a:extLst>
          </p:cNvPr>
          <p:cNvSpPr/>
          <p:nvPr/>
        </p:nvSpPr>
        <p:spPr>
          <a:xfrm>
            <a:off x="3517392" y="2472658"/>
            <a:ext cx="227685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</a:rPr>
              <a:t>Просматривает мероприятия и регистрируется в системе.</a:t>
            </a:r>
            <a:endParaRPr lang="en-US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420B700B-B5DA-94B0-39F5-0013D6D6D5B1}"/>
              </a:ext>
            </a:extLst>
          </p:cNvPr>
          <p:cNvSpPr/>
          <p:nvPr/>
        </p:nvSpPr>
        <p:spPr>
          <a:xfrm>
            <a:off x="6096000" y="1942306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FBA69C4-F017-47A6-6FE6-E834B6B4E0F7}"/>
              </a:ext>
            </a:extLst>
          </p:cNvPr>
          <p:cNvSpPr/>
          <p:nvPr/>
        </p:nvSpPr>
        <p:spPr>
          <a:xfrm>
            <a:off x="6260592" y="208861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07A34"/>
                </a:solidFill>
              </a:rPr>
              <a:t>Волонтёр</a:t>
            </a:r>
            <a:endParaRPr lang="en-US" sz="2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E60A5E6-FA08-452E-EE0C-A070F296A08D}"/>
              </a:ext>
            </a:extLst>
          </p:cNvPr>
          <p:cNvSpPr/>
          <p:nvPr/>
        </p:nvSpPr>
        <p:spPr>
          <a:xfrm>
            <a:off x="6260592" y="2472658"/>
            <a:ext cx="227685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</a:rPr>
              <a:t>Подаёт заявки, отслеживает статус, работает с профилем и уведомлениями.</a:t>
            </a:r>
            <a:endParaRPr lang="en-US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164630A7-2FD6-06C3-A063-03365F54323B}"/>
              </a:ext>
            </a:extLst>
          </p:cNvPr>
          <p:cNvSpPr/>
          <p:nvPr/>
        </p:nvSpPr>
        <p:spPr>
          <a:xfrm>
            <a:off x="3407410" y="4001294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7FFEED78-B135-1956-9F12-432C79EC7325}"/>
              </a:ext>
            </a:extLst>
          </p:cNvPr>
          <p:cNvSpPr/>
          <p:nvPr/>
        </p:nvSpPr>
        <p:spPr>
          <a:xfrm>
            <a:off x="3572002" y="414759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07A34"/>
                </a:solidFill>
              </a:rPr>
              <a:t>Координатор</a:t>
            </a:r>
            <a:endParaRPr lang="en-US" sz="2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CEF0B672-74FF-91A3-E086-2C20417A756E}"/>
              </a:ext>
            </a:extLst>
          </p:cNvPr>
          <p:cNvSpPr/>
          <p:nvPr/>
        </p:nvSpPr>
        <p:spPr>
          <a:xfrm>
            <a:off x="3572002" y="4531646"/>
            <a:ext cx="227685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</a:rPr>
              <a:t>Создаёт мероприятия, рассматривает заявки и подтверждает участие.</a:t>
            </a:r>
            <a:endParaRPr lang="en-US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C1CAE1F-39A7-65AF-1504-B0CC7932F5BC}"/>
              </a:ext>
            </a:extLst>
          </p:cNvPr>
          <p:cNvSpPr/>
          <p:nvPr/>
        </p:nvSpPr>
        <p:spPr>
          <a:xfrm>
            <a:off x="6150610" y="4001294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52A32C9-CEC3-AD53-95BD-4D69E94F0B6F}"/>
              </a:ext>
            </a:extLst>
          </p:cNvPr>
          <p:cNvSpPr/>
          <p:nvPr/>
        </p:nvSpPr>
        <p:spPr>
          <a:xfrm>
            <a:off x="6315202" y="414759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07A34"/>
                </a:solidFill>
              </a:rPr>
              <a:t>Администратор</a:t>
            </a:r>
            <a:endParaRPr lang="en-US" sz="2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EB6507AB-E1D2-D78E-CD5D-F156AD0E0CAD}"/>
              </a:ext>
            </a:extLst>
          </p:cNvPr>
          <p:cNvSpPr/>
          <p:nvPr/>
        </p:nvSpPr>
        <p:spPr>
          <a:xfrm>
            <a:off x="6315202" y="4531646"/>
            <a:ext cx="2276856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</a:rPr>
              <a:t>Управляет пользователями, мероприятиями и журналом аудита.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92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2B71F-441F-8932-FE17-8AC7C064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75E5D4-FC74-05A4-44EA-50E5574BB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838325"/>
            <a:ext cx="362585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отвечает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пользовательский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dirty="0"/>
          </a:p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реализует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и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бизнес-логику</a:t>
            </a:r>
            <a:endParaRPr lang="en-US" dirty="0"/>
          </a:p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приложения</a:t>
            </a:r>
            <a:endParaRPr lang="en-US" dirty="0"/>
          </a:p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разделяет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frontend и API-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запросы</a:t>
            </a:r>
            <a:endParaRPr lang="en-US" dirty="0"/>
          </a:p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защищает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передачи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endParaRPr lang="en-US" dirty="0"/>
          </a:p>
          <a:p>
            <a:endParaRPr lang="ru-RU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71E2813-A5A3-ED78-3560-D20827D18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1445337"/>
            <a:ext cx="7620000" cy="39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27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CADCB-7162-6F9F-E4A5-10BA3429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Бизнес-логика мероприятий и заявок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CC711D2-00A0-11C1-147B-31BFDC9DA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6251" y="1503363"/>
            <a:ext cx="7150694" cy="498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95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E9258-38A1-5348-B3F0-56A6115B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1325563"/>
          </a:xfrm>
        </p:spPr>
        <p:txBody>
          <a:bodyPr/>
          <a:lstStyle/>
          <a:p>
            <a:r>
              <a:rPr lang="ru-RU" dirty="0"/>
              <a:t>Бизнес-логика мероприятий и заявок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BAB93FF-13AB-107A-6F7C-859C6CCAA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624" y="1343025"/>
            <a:ext cx="11684575" cy="557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99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66FA-8C90-C329-2100-8D7ACD2D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0B84C-1635-5C18-7FC9-C9115479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1325563"/>
          </a:xfrm>
        </p:spPr>
        <p:txBody>
          <a:bodyPr/>
          <a:lstStyle/>
          <a:p>
            <a:r>
              <a:rPr lang="ru-RU" dirty="0"/>
              <a:t>Бизнес-логика мероприятий и заявок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CE2BC6-50B8-1C9F-D48D-A4F074B5D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D10297-D44E-7AE5-12A3-95D0D5431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450" y="1312863"/>
            <a:ext cx="6388100" cy="525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8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546A6-AE31-500C-9820-39A5E59A7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Клиентская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B0716C-59F6-64E6-790E-DB4265809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020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компонентный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</a:t>
            </a:r>
            <a:endParaRPr lang="en-US" dirty="0"/>
          </a:p>
          <a:p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Переиспользуемые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карточек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заявок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профиля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навигации</a:t>
            </a:r>
            <a:endParaRPr lang="en-US" dirty="0"/>
          </a:p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CSS-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БЭМ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поддерживают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стиль</a:t>
            </a:r>
            <a:endParaRPr lang="en-US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2FE5D3-E576-43D6-D437-A5BB566CC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565" y="365125"/>
            <a:ext cx="5523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12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A9680-9338-EDBF-C929-806AF8C82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Интеграция с картами Яндекс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C5BF4EA-CF62-9D46-8DC1-2E5E0101E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8242" y="1825625"/>
            <a:ext cx="66755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00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5510E-B191-06AA-66EF-7850AAF7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Серверная часть и база данных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137F658-C7BD-9758-1E61-A457FD39B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178" y="1400175"/>
            <a:ext cx="6353421" cy="536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0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3FF63-A948-EBD5-F162-CE635B3D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персональных данных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96C06B-C727-A1D8-EE43-A28258F52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" y="2193924"/>
            <a:ext cx="7302366" cy="137636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C45F40A-E1DC-CC08-6F11-62E3221D3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75" y="3327400"/>
            <a:ext cx="7810500" cy="1714500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0B82DCBC-CD24-247F-5A46-7A8A26FA9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740965" y="1690688"/>
            <a:ext cx="509543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34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ACBEF-F763-FCB5-2100-FFB9347E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Административная панель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CE17F86-EEA8-A394-9A8B-920D779B1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895" y="1890713"/>
            <a:ext cx="9091279" cy="907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00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C9AB3-EC1D-4B5E-2313-ADA332A9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Хостинг и серверная среда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9DEB58-4B0F-F6D2-B53B-B6D1998D6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Linux-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окружении</a:t>
            </a:r>
            <a:endParaRPr lang="en-US" dirty="0"/>
          </a:p>
          <a:p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проводилось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SSH</a:t>
            </a:r>
            <a:endParaRPr lang="en-US" dirty="0"/>
          </a:p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отдаёт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frontend и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проксирует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</a:t>
            </a:r>
            <a:endParaRPr lang="en-US" dirty="0"/>
          </a:p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отдельного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прикладного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пользователя</a:t>
            </a:r>
            <a:endParaRPr lang="en-US" dirty="0"/>
          </a:p>
          <a:p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запускает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backend в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фоновом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режиме</a:t>
            </a:r>
            <a:endParaRPr lang="en-US" dirty="0"/>
          </a:p>
          <a:p>
            <a:endParaRPr lang="ru-RU" dirty="0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0E4081E1-E3ED-E9C8-F1B6-2E85B27C1B10}"/>
              </a:ext>
            </a:extLst>
          </p:cNvPr>
          <p:cNvSpPr/>
          <p:nvPr/>
        </p:nvSpPr>
        <p:spPr>
          <a:xfrm>
            <a:off x="6903720" y="4983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101EA9CD-2D49-B7D4-9FD5-784F608AE741}"/>
              </a:ext>
            </a:extLst>
          </p:cNvPr>
          <p:cNvSpPr/>
          <p:nvPr/>
        </p:nvSpPr>
        <p:spPr>
          <a:xfrm>
            <a:off x="7068312" y="510235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07A34"/>
                </a:solidFill>
              </a:rPr>
              <a:t>HTTPS</a:t>
            </a:r>
            <a:endParaRPr lang="en-US" sz="21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3DF1A723-20C3-A838-CFE3-ABDBA66ABDE1}"/>
              </a:ext>
            </a:extLst>
          </p:cNvPr>
          <p:cNvSpPr/>
          <p:nvPr/>
        </p:nvSpPr>
        <p:spPr>
          <a:xfrm>
            <a:off x="7068312" y="54589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1F"/>
                </a:solidFill>
              </a:rPr>
              <a:t>защищённый канал передачи данных</a:t>
            </a:r>
            <a:endParaRPr lang="en-US" sz="1100" dirty="0"/>
          </a:p>
        </p:txBody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287C9831-1278-760B-96F8-7DA42DF62A91}"/>
              </a:ext>
            </a:extLst>
          </p:cNvPr>
          <p:cNvSpPr/>
          <p:nvPr/>
        </p:nvSpPr>
        <p:spPr>
          <a:xfrm>
            <a:off x="9189720" y="4983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B22C1FA8-E496-B643-B7B6-421813BFE7B9}"/>
              </a:ext>
            </a:extLst>
          </p:cNvPr>
          <p:cNvSpPr/>
          <p:nvPr/>
        </p:nvSpPr>
        <p:spPr>
          <a:xfrm>
            <a:off x="9354312" y="510235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7C00"/>
                </a:solidFill>
              </a:rPr>
              <a:t>PM2</a:t>
            </a:r>
            <a:endParaRPr lang="en-US" sz="2100" dirty="0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832A871F-0729-6836-3EB5-87C68573E0C5}"/>
              </a:ext>
            </a:extLst>
          </p:cNvPr>
          <p:cNvSpPr/>
          <p:nvPr/>
        </p:nvSpPr>
        <p:spPr>
          <a:xfrm>
            <a:off x="9354312" y="54589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1F"/>
                </a:solidFill>
              </a:rPr>
              <a:t>контроль backend-процесса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5090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F0FBF-66DF-B233-37FF-2C308B6D9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BA306B-A35E-BCCD-67FD-50522CD7C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09639E1-ADD7-6DD8-2ABE-CBCB650F8952}"/>
              </a:ext>
            </a:extLst>
          </p:cNvPr>
          <p:cNvSpPr/>
          <p:nvPr/>
        </p:nvSpPr>
        <p:spPr>
          <a:xfrm>
            <a:off x="759333" y="1825625"/>
            <a:ext cx="4754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pic>
        <p:nvPicPr>
          <p:cNvPr id="5" name="Image 0" descr="/mnt/data/pres_assets/checkmark.png">
            <a:extLst>
              <a:ext uri="{FF2B5EF4-FFF2-40B4-BE49-F238E27FC236}">
                <a16:creationId xmlns:a16="http://schemas.microsoft.com/office/drawing/2014/main" id="{4CFFD105-47FF-E5CD-36EE-0003328C1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90217"/>
            <a:ext cx="292608" cy="292608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73D3FE11-26B8-1682-4BA6-E3BAE8B91648}"/>
              </a:ext>
            </a:extLst>
          </p:cNvPr>
          <p:cNvSpPr/>
          <p:nvPr/>
        </p:nvSpPr>
        <p:spPr>
          <a:xfrm>
            <a:off x="1289685" y="1971929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7A34"/>
                </a:solidFill>
              </a:rPr>
              <a:t>Модульное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FC79CA-CFCE-FE3C-3EDF-35AE479D3E0C}"/>
              </a:ext>
            </a:extLst>
          </p:cNvPr>
          <p:cNvSpPr/>
          <p:nvPr/>
        </p:nvSpPr>
        <p:spPr>
          <a:xfrm>
            <a:off x="923925" y="2355977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</a:rPr>
              <a:t>React-компоненты, страницы, API-обёртки, middleware и серверные маршруты.</a:t>
            </a:r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45EA35-33DA-3351-EA01-6AFD7750566B}"/>
              </a:ext>
            </a:extLst>
          </p:cNvPr>
          <p:cNvSpPr/>
          <p:nvPr/>
        </p:nvSpPr>
        <p:spPr>
          <a:xfrm>
            <a:off x="6501765" y="1825625"/>
            <a:ext cx="4754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pic>
        <p:nvPicPr>
          <p:cNvPr id="9" name="Image 1" descr="/mnt/data/pres_assets/statistics.png">
            <a:extLst>
              <a:ext uri="{FF2B5EF4-FFF2-40B4-BE49-F238E27FC236}">
                <a16:creationId xmlns:a16="http://schemas.microsoft.com/office/drawing/2014/main" id="{6E60C63C-7845-E48C-4290-392EBD830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357" y="1990217"/>
            <a:ext cx="292608" cy="292608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843A9493-3D2C-0830-3BD8-510C45F2895D}"/>
              </a:ext>
            </a:extLst>
          </p:cNvPr>
          <p:cNvSpPr/>
          <p:nvPr/>
        </p:nvSpPr>
        <p:spPr>
          <a:xfrm>
            <a:off x="7032117" y="1971929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7A34"/>
                </a:solidFill>
              </a:rPr>
              <a:t>Функциональное</a:t>
            </a:r>
            <a:endParaRPr lang="en-US" sz="2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1459E5D-6B7F-3AD9-36CA-9B45358178AF}"/>
              </a:ext>
            </a:extLst>
          </p:cNvPr>
          <p:cNvSpPr/>
          <p:nvPr/>
        </p:nvSpPr>
        <p:spPr>
          <a:xfrm>
            <a:off x="6666357" y="2355977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</a:rPr>
              <a:t>Регистрация, вход, мероприятия, заявки, профили и админ-панель.</a:t>
            </a:r>
            <a:endParaRPr lang="en-US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A705C85-CFAB-61DE-2D15-642142241ACE}"/>
              </a:ext>
            </a:extLst>
          </p:cNvPr>
          <p:cNvSpPr/>
          <p:nvPr/>
        </p:nvSpPr>
        <p:spPr>
          <a:xfrm>
            <a:off x="759333" y="3380105"/>
            <a:ext cx="4754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pic>
        <p:nvPicPr>
          <p:cNvPr id="13" name="Image 2" descr="/mnt/data/pres_assets/leaf_category.png">
            <a:extLst>
              <a:ext uri="{FF2B5EF4-FFF2-40B4-BE49-F238E27FC236}">
                <a16:creationId xmlns:a16="http://schemas.microsoft.com/office/drawing/2014/main" id="{3E921481-08DB-99F3-5286-4B1E9D0AC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544697"/>
            <a:ext cx="292608" cy="292608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C9CE367C-2C34-B7DB-F617-F38CD4C0D581}"/>
              </a:ext>
            </a:extLst>
          </p:cNvPr>
          <p:cNvSpPr/>
          <p:nvPr/>
        </p:nvSpPr>
        <p:spPr>
          <a:xfrm>
            <a:off x="1289685" y="3526409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7A34"/>
                </a:solidFill>
              </a:rPr>
              <a:t>Удобство использования</a:t>
            </a:r>
            <a:endParaRPr lang="en-US" sz="2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0F34DCE-54AE-1FFA-9041-C4B56FA82F7E}"/>
              </a:ext>
            </a:extLst>
          </p:cNvPr>
          <p:cNvSpPr/>
          <p:nvPr/>
        </p:nvSpPr>
        <p:spPr>
          <a:xfrm>
            <a:off x="923925" y="3910457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</a:rPr>
              <a:t>Проверка сценариев гостя, волонтёра, координатора и администратора.</a:t>
            </a:r>
            <a:endParaRPr lang="en-US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2C5AD292-549F-EBD0-BBA7-DA708980E9B0}"/>
              </a:ext>
            </a:extLst>
          </p:cNvPr>
          <p:cNvSpPr/>
          <p:nvPr/>
        </p:nvSpPr>
        <p:spPr>
          <a:xfrm>
            <a:off x="6501765" y="3380105"/>
            <a:ext cx="4754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0D1"/>
            </a:solidFill>
            <a:prstDash val="solid"/>
          </a:ln>
        </p:spPr>
      </p:sp>
      <p:pic>
        <p:nvPicPr>
          <p:cNvPr id="17" name="Image 3" descr="/mnt/data/pres_assets/rocket.png">
            <a:extLst>
              <a:ext uri="{FF2B5EF4-FFF2-40B4-BE49-F238E27FC236}">
                <a16:creationId xmlns:a16="http://schemas.microsoft.com/office/drawing/2014/main" id="{3B8FD124-965F-B3FF-8E90-051EE8A9A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6357" y="3544697"/>
            <a:ext cx="292608" cy="29260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EE14CE72-880B-5ED7-9C0A-BA4981797C35}"/>
              </a:ext>
            </a:extLst>
          </p:cNvPr>
          <p:cNvSpPr/>
          <p:nvPr/>
        </p:nvSpPr>
        <p:spPr>
          <a:xfrm>
            <a:off x="7032117" y="3526409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7C00"/>
                </a:solidFill>
              </a:rPr>
              <a:t>Нагрузочное</a:t>
            </a:r>
            <a:endParaRPr lang="en-US" sz="20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B4EE2CE-656B-70FE-C19E-F17D4F73F36A}"/>
              </a:ext>
            </a:extLst>
          </p:cNvPr>
          <p:cNvSpPr/>
          <p:nvPr/>
        </p:nvSpPr>
        <p:spPr>
          <a:xfrm>
            <a:off x="6666357" y="3910457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F2A1F"/>
                </a:solidFill>
              </a:rPr>
              <a:t>JMeter: список мероприятий, авторизация, заявки, профили и админ-маршруты.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5A05B-6B23-7AD0-E9A9-B29E489D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 работы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1EBED1-AA62-EA10-1AAD-36971B40F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Цель достигнута</a:t>
            </a:r>
          </a:p>
          <a:p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Реализовано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веб-приложение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волонтёрской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организации</a:t>
            </a:r>
            <a:endParaRPr lang="en-US" dirty="0"/>
          </a:p>
          <a:p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Объединены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мероприятия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dirty="0"/>
          </a:p>
          <a:p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Настроены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серверная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доступа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endParaRPr lang="en-US" dirty="0"/>
          </a:p>
          <a:p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Проведено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размещение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серверной</a:t>
            </a:r>
            <a:r>
              <a:rPr lang="en-US" dirty="0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среде</a:t>
            </a:r>
            <a:endParaRPr lang="en-US" dirty="0"/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7112879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402</Words>
  <Application>Microsoft Office PowerPoint</Application>
  <PresentationFormat>Широкоэкранный</PresentationFormat>
  <Paragraphs>101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Веб-приложение волонтерской организации</vt:lpstr>
      <vt:lpstr>Актуальность</vt:lpstr>
      <vt:lpstr>Цель и задачи проекта</vt:lpstr>
      <vt:lpstr>Анализ решений</vt:lpstr>
      <vt:lpstr>Роли пользователей</vt:lpstr>
      <vt:lpstr>Архитектура</vt:lpstr>
      <vt:lpstr>Бизнес-логика мероприятий и заявок</vt:lpstr>
      <vt:lpstr>Бизнес-логика мероприятий и заявок</vt:lpstr>
      <vt:lpstr>Бизнес-логика мероприятий и заявок</vt:lpstr>
      <vt:lpstr>Клиентская часть</vt:lpstr>
      <vt:lpstr>Интеграция с картами Яндекс</vt:lpstr>
      <vt:lpstr>Серверная часть и база данных</vt:lpstr>
      <vt:lpstr>Защита персональных данных</vt:lpstr>
      <vt:lpstr>Административная панель</vt:lpstr>
      <vt:lpstr>Хостинг и серверная среда</vt:lpstr>
      <vt:lpstr>Тестирование</vt:lpstr>
      <vt:lpstr>Итог работы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BronyLong _</dc:creator>
  <cp:lastModifiedBy>BronyLong _</cp:lastModifiedBy>
  <cp:revision>1</cp:revision>
  <dcterms:created xsi:type="dcterms:W3CDTF">2026-05-21T01:56:01Z</dcterms:created>
  <dcterms:modified xsi:type="dcterms:W3CDTF">2026-05-21T02:07:22Z</dcterms:modified>
</cp:coreProperties>
</file>